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71" r:id="rId13"/>
    <p:sldId id="266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itchFamily="2" charset="77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B285A3-CE80-44E0-93BF-277BBC77EFF2}">
  <a:tblStyle styleId="{1DB285A3-CE80-44E0-93BF-277BBC77EFF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5"/>
  </p:normalViewPr>
  <p:slideViewPr>
    <p:cSldViewPr snapToGrid="0">
      <p:cViewPr>
        <p:scale>
          <a:sx n="90" d="100"/>
          <a:sy n="90" d="100"/>
        </p:scale>
        <p:origin x="1432" y="5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71478" y="2271712"/>
            <a:ext cx="984904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Data Science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405979" y="3367087"/>
            <a:ext cx="938004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Gợi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ý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Tương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tự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Phân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khúc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Thị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trường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 Xe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máy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405979" y="4110037"/>
            <a:ext cx="938004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Dựa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trên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dữ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liệu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từ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Chợ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Tốt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| Trung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Tâm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Tin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Học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ĐH KHTN TP.HCM</a:t>
            </a:r>
            <a:endParaRPr dirty="0"/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79ACA913-9F68-0311-3164-FD9E3B905470}"/>
              </a:ext>
            </a:extLst>
          </p:cNvPr>
          <p:cNvSpPr txBox="1"/>
          <p:nvPr/>
        </p:nvSpPr>
        <p:spPr>
          <a:xfrm>
            <a:off x="4844504" y="6034088"/>
            <a:ext cx="938004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 Thien Thanh &amp; Nguyen Quoc Thinh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1104900"/>
            <a:ext cx="1143000" cy="57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333500" y="1447800"/>
            <a:ext cx="276690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Nội</a:t>
            </a:r>
            <a:r>
              <a:rPr lang="en-US" sz="4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dung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809750" y="2495550"/>
            <a:ext cx="5148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1.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Vấn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đề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&amp;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Dữ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liệu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809750" y="3143250"/>
            <a:ext cx="5148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2.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Phân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tích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&amp;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Kỹ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thuật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Tính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năng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809750" y="3790950"/>
            <a:ext cx="5148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3.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Bài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toán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1: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Hệ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thống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Gợi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ý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809750" y="4400550"/>
            <a:ext cx="558857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4.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Bài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toán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2: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Phân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khúc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Thị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trường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809750" y="5048250"/>
            <a:ext cx="5148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5.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Kết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luận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6384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2861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9338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45815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522922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333375" y="914400"/>
            <a:ext cx="644080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1.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Bối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Cảnh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&amp;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Mục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Tiêu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43725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333375" y="1866900"/>
            <a:ext cx="64408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Bối cảnh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333375" y="2657475"/>
            <a:ext cx="6134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Sử dụng dữ liệu gồm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7,208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tin đăng xe máy cũ từ Chợ Tốt để phân tích và xây dựng mô hình.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33375" y="3609975"/>
            <a:ext cx="64408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Mục tiêu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00075" y="4362450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14375" y="4362450"/>
            <a:ext cx="57531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Bài toán 1: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Xây dựng hệ thống gợi ý xe tương tự (Content-Based) để cải thiện trải nghiệm người dùng và tăng khả năng bán hàng.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00075" y="5076825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714375" y="5076825"/>
            <a:ext cx="57531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Bài toán 2: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Phân khúc thị trường xe (Clustering) để tìm ra các nhóm sản phẩm/giá trị riêng biệt, hỗ trợ chiến lược kinh doanh.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24025"/>
            <a:ext cx="5286375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24025"/>
            <a:ext cx="5286375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962025" y="2114550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Làm sạch (Cleaning)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724650" y="2114550"/>
            <a:ext cx="473059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Kỹ thuật Tính năng (Feature Engineering)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104900" y="271462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295400" y="2714625"/>
            <a:ext cx="41719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7,208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tin đăng ban đầu được lọc xuống còn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6,546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mẫu sau khi loại bỏ outliers (dựa trên IQR của 'Giá').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04900" y="3409950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1295400" y="3409950"/>
            <a:ext cx="41719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Chuẩn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hóa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cột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'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Giá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' 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loại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bỏ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'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đ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', 'tr')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và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'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Năm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đăng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ký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' 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xử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lý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'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trước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1980')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thành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kiểu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số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.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1104900" y="410527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295400" y="4105275"/>
            <a:ext cx="41719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Xử lý giá trị thiếu (NaNs) bằng median (cho số) và mode (cho danh mục).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867525" y="317182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7058024" y="3171825"/>
            <a:ext cx="465772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Tạo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biến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số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mới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: '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Tuổi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của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xe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', '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Tỷ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lệ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giá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', 'Km per year'.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867525" y="360997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058025" y="3609975"/>
            <a:ext cx="41719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Chuẩn hóa văn bản (Text): Sử dụng `pyvi` và `vietnamese-stopwords` cho 'Tiêu đề' &amp; 'Mô tả'.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867525" y="4305300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058025" y="4305300"/>
            <a:ext cx="41719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Vector hóa: `TF-IDF` (1000 features) -&gt; `SVD` (100 components).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867525" y="500062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058025" y="5000625"/>
            <a:ext cx="41719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Mã hóa (Encoding): `LabelEncoder` (e.g., 'Dòng xe') và `OneHotEncoder` (e.g., 'Loại xe').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2. Chuẩn bị Dữ liệu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4767262"/>
            <a:ext cx="342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Phân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bố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Giá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(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đã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lọc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):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Hầu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hết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xe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có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giá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thấp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vì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đã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qua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sử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dụng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.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4381500" y="4767262"/>
            <a:ext cx="342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Top Thương hiệu: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Honda chiếm đa số thị trường, theo sau là Yamaha và Piaggio.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8191500" y="4767262"/>
            <a:ext cx="342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Giá theo Loại xe: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Tay ga có khoảng giá rộng nhất, Xe số có giá trung bình thấp nhất.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2. Phân tích Dữ liệu (EDA)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 descr="A graph with blue lines&#10;&#10;Description automatically generated">
            <a:extLst>
              <a:ext uri="{FF2B5EF4-FFF2-40B4-BE49-F238E27FC236}">
                <a16:creationId xmlns:a16="http://schemas.microsoft.com/office/drawing/2014/main" id="{DC2C81D9-CAE7-FABB-468D-3473A3B2F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34" y="1222860"/>
            <a:ext cx="4381500" cy="2940050"/>
          </a:xfrm>
          <a:prstGeom prst="rect">
            <a:avLst/>
          </a:prstGeom>
        </p:spPr>
      </p:pic>
      <p:pic>
        <p:nvPicPr>
          <p:cNvPr id="11" name="Picture 10" descr="A graph with blue squares and black text&#10;&#10;Description automatically generated">
            <a:extLst>
              <a:ext uri="{FF2B5EF4-FFF2-40B4-BE49-F238E27FC236}">
                <a16:creationId xmlns:a16="http://schemas.microsoft.com/office/drawing/2014/main" id="{80194FFE-527A-5043-2249-FEC2C54DB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039" y="1356135"/>
            <a:ext cx="3828961" cy="2529767"/>
          </a:xfrm>
          <a:prstGeom prst="rect">
            <a:avLst/>
          </a:prstGeom>
        </p:spPr>
      </p:pic>
      <p:pic>
        <p:nvPicPr>
          <p:cNvPr id="13" name="Picture 12" descr="A group of blue and white bars&#10;&#10;Description automatically generated">
            <a:extLst>
              <a:ext uri="{FF2B5EF4-FFF2-40B4-BE49-F238E27FC236}">
                <a16:creationId xmlns:a16="http://schemas.microsoft.com/office/drawing/2014/main" id="{42EFD7A6-3819-125E-1BCB-2A055BEF47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0" y="1362560"/>
            <a:ext cx="3951854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1400175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Mô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hình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1: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Consine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05765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Mô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hình</a:t>
            </a:r>
            <a:r>
              <a:rPr lang="en-US" sz="2400" b="0" i="0" u="none" strike="noStrike" cap="none" dirty="0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2: </a:t>
            </a:r>
            <a:r>
              <a:rPr lang="en-US" sz="2400" b="0" i="0" u="none" strike="noStrike" cap="none" dirty="0" err="1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Gensim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714375" y="2000250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904875" y="2000250"/>
            <a:ext cx="4953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Sử dụng `TfidfVectorizer` (5k features) sau đó giảm chiều bằng `SVD` (100 components).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714375" y="269557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904875" y="2695575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Tính `cosine_similarity` trên ma trận nén (6546, 100).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714375" y="313372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904875" y="3133725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Brand Consistency: 0.790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714375" y="357187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904875" y="3571875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Build time: ~1.6 giây.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714375" y="465772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04875" y="4657725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Sử dụng `Dictionary` -&gt; `Corpus` (BoW) -&gt; `TfidfModel`.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714375" y="509587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904875" y="5095875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Xây dựng index `SparseMatrixSimilarity` để truy vấn nhanh.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714375" y="553402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904875" y="5534025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Brand Consistency: 0.798 (Tốt hơn)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714375" y="5972175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904875" y="5972175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Build time: ~0.8 giây (Nhanh hơn).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001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447675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3. Bài toán 1: Gợi ý Tương tự (Models)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1782374"/>
            <a:ext cx="5137249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VD: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Tìm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kiếm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"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xe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chính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chủ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,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nguyên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zin,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máy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êm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"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71500" y="3867150"/>
            <a:ext cx="1120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691729" y="3867150"/>
            <a:ext cx="3961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652789" y="3867150"/>
            <a:ext cx="2326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979419" y="3867150"/>
            <a:ext cx="17246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9704040" y="3867150"/>
            <a:ext cx="1916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71500" y="4410075"/>
            <a:ext cx="1120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691729" y="4410075"/>
            <a:ext cx="3961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652789" y="4410075"/>
            <a:ext cx="2326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979419" y="4410075"/>
            <a:ext cx="17246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9704040" y="4410075"/>
            <a:ext cx="1916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71500" y="4953000"/>
            <a:ext cx="1120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691729" y="4953000"/>
            <a:ext cx="3961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652789" y="4953000"/>
            <a:ext cx="2326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979419" y="4953000"/>
            <a:ext cx="17246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9704040" y="4953000"/>
            <a:ext cx="1916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71500" y="5495925"/>
            <a:ext cx="11202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1691729" y="5495925"/>
            <a:ext cx="3961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652789" y="5495925"/>
            <a:ext cx="23266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7979419" y="5495925"/>
            <a:ext cx="17246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9704040" y="5495925"/>
            <a:ext cx="1916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3.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Bài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toán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1: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Gợi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ý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(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Đánh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giá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&amp; Demo)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2B67AFAC-E1BF-9E12-A082-AEC43814F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1" y="2171096"/>
            <a:ext cx="7772400" cy="1772858"/>
          </a:xfrm>
          <a:prstGeom prst="rect">
            <a:avLst/>
          </a:prstGeom>
        </p:spPr>
      </p:pic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BFCEC769-C6B1-E69B-1699-ED0EBAA6E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417" y="4671870"/>
            <a:ext cx="8387082" cy="1840750"/>
          </a:xfrm>
          <a:prstGeom prst="rect">
            <a:avLst/>
          </a:prstGeom>
        </p:spPr>
      </p:pic>
      <p:sp>
        <p:nvSpPr>
          <p:cNvPr id="6" name="Google Shape;189;p19">
            <a:extLst>
              <a:ext uri="{FF2B5EF4-FFF2-40B4-BE49-F238E27FC236}">
                <a16:creationId xmlns:a16="http://schemas.microsoft.com/office/drawing/2014/main" id="{30DB5DA0-8C37-83E2-4273-F66ABA95E295}"/>
              </a:ext>
            </a:extLst>
          </p:cNvPr>
          <p:cNvSpPr txBox="1"/>
          <p:nvPr/>
        </p:nvSpPr>
        <p:spPr>
          <a:xfrm>
            <a:off x="533401" y="1149945"/>
            <a:ext cx="5137249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Khách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hàng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có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thể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theo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ID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hoặc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nhập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chuỗi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để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tìm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kiếm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2;p18" descr="image.png">
            <a:extLst>
              <a:ext uri="{FF2B5EF4-FFF2-40B4-BE49-F238E27FC236}">
                <a16:creationId xmlns:a16="http://schemas.microsoft.com/office/drawing/2014/main" id="{30453FB7-4985-7C8E-98C4-BC12C081FA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66DBE247-40D8-6974-1595-749E94157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089" y="1466056"/>
            <a:ext cx="9199822" cy="3925888"/>
          </a:xfrm>
          <a:prstGeom prst="rect">
            <a:avLst/>
          </a:prstGeom>
        </p:spPr>
      </p:pic>
      <p:sp>
        <p:nvSpPr>
          <p:cNvPr id="11" name="Google Shape;211;p19">
            <a:extLst>
              <a:ext uri="{FF2B5EF4-FFF2-40B4-BE49-F238E27FC236}">
                <a16:creationId xmlns:a16="http://schemas.microsoft.com/office/drawing/2014/main" id="{8BB9DE13-B1C6-6B1C-5E77-D471947899C3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3.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Bài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toán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1: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Gợi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ý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(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Đánh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giá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&amp; Demo)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965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571500" y="1385887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Dữ liệu (Input)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71500" y="2014537"/>
            <a:ext cx="52863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Kết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hợp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tất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cả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các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tính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năng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đã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xử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lý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: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71500" y="3786187"/>
            <a:ext cx="5286375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=&gt; Ma trận đầu vào: (6546, 127)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4233862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Phương pháp (Methods)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571500" y="5738812"/>
            <a:ext cx="52863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Kết quả K: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Phân tích Silhouette score (KMeans) cho thấy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K = 2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là số cụm tối ưu.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714375" y="2443162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904875" y="2443162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Văn bản (SVD): 100 features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714375" y="2881312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904875" y="2881312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Phân loại (Encoded): 17 features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714375" y="3319462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904875" y="3319462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Số (Scaled): 10 features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714375" y="4833937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904875" y="4833937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Sklearn: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KMeans, GMM, Agglomerative.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714375" y="5272087"/>
            <a:ext cx="95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904875" y="5272087"/>
            <a:ext cx="4953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PySpark: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KMeans, GMM, BisectingKMeans.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71500" y="433387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4. Bài toán 2: Phân khúc (Models &amp; K)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86025"/>
            <a:ext cx="5286375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5875" y="3086100"/>
            <a:ext cx="2714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5875" y="3657600"/>
            <a:ext cx="2714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5875" y="4229100"/>
            <a:ext cx="2714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5875" y="3086100"/>
            <a:ext cx="2242244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5875" y="3657600"/>
            <a:ext cx="2242244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05875" y="4229100"/>
            <a:ext cx="1428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1524000"/>
            <a:ext cx="11049000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6201965" y="2486025"/>
            <a:ext cx="555069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PySpark Silhouette Score (K=2)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334125" y="3148012"/>
            <a:ext cx="2381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KMeans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334125" y="3719512"/>
            <a:ext cx="2381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BisectingKMeans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334125" y="4291012"/>
            <a:ext cx="2381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GMM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4. Bài toán 2: Phân khúc (Đánh giá)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6334125" y="1414462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Cụm 0 (Cluster 0)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6334125" y="3929062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Cụm 1 (Cluster 1)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6457950" y="2014537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6667500" y="201453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Giá TB (Scaled):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-0.14 (Thấp)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6457950" y="2481262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6667500" y="248126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Tuổi</a:t>
            </a:r>
            <a:r>
              <a:rPr lang="en-US" sz="1500" b="1" i="0" u="none" strike="noStrike" cap="none" dirty="0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TB (Scaled):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0.19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Cũ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)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6457950" y="2947987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6667500" y="294798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Thương hiệu/Loại: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Honda / Tay ga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6457950" y="3414712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6667500" y="341471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=&gt; </a:t>
            </a:r>
            <a:r>
              <a:rPr lang="en-US" sz="1500" b="1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Phân khúc: Xe tay ga phổ thông, đã qua sử dụng.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6457950" y="4529137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6667500" y="452913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Giá TB (Scaled):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0.15 (Cao)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6457950" y="4995862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6667500" y="499586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Tuổi TB (Scaled):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-0.21 (Mới)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6457950" y="5462587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6667500" y="546258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Thương hiệu/Loại: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Honda / Tay ga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6457950" y="5929312"/>
            <a:ext cx="1143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•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6667500" y="592931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=&gt; </a:t>
            </a:r>
            <a:r>
              <a:rPr lang="en-US" sz="1500" b="1" i="0" u="none" strike="noStrike" cap="none">
                <a:solidFill>
                  <a:srgbClr val="F9731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Phân khúc: Xe tay ga cao cấp/lướt.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571500" y="461962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4.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Bài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toán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2: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Phân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khúc</a:t>
            </a:r>
            <a:r>
              <a:rPr lang="en-US" sz="30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(Profiling)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 descr="A chart with green and blue dots&#10;&#10;Description automatically generated">
            <a:extLst>
              <a:ext uri="{FF2B5EF4-FFF2-40B4-BE49-F238E27FC236}">
                <a16:creationId xmlns:a16="http://schemas.microsoft.com/office/drawing/2014/main" id="{A7053A59-B4A5-3C47-453D-32AABA03E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16" y="1613415"/>
            <a:ext cx="5899119" cy="4103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7C70AB-35C8-D2CC-4816-E95120ED1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4" y="1776411"/>
            <a:ext cx="5560071" cy="3552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99B938-8A17-0700-C473-CC06C6EDE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6" y="1776410"/>
            <a:ext cx="4652961" cy="349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00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1333500" y="923925"/>
            <a:ext cx="313789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5. </a:t>
            </a:r>
            <a:r>
              <a:rPr lang="en-US" sz="4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Kết</a:t>
            </a:r>
            <a:r>
              <a:rPr lang="en-US" sz="4500" b="1" i="0" u="none" strike="noStrike" cap="none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4500" b="1" i="0" u="none" strike="noStrike" cap="none" dirty="0" err="1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luận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1809750" y="2066925"/>
            <a:ext cx="9048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Hệ thống Gợi ý: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Cả Sklearn và Gensim đều hiệu quả. Gensim cho kết quả tốt hơn về Brand Consistency (0.798) và tốc độ (0.8s).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1809750" y="3352026"/>
            <a:ext cx="90487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Phân khúc Thị trường: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PySpark KMeans/BKM (K=2) cho kết quả tốt nhất (Sil=0.826), xác định 2 phân khúc chính: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Calibri"/>
              </a:rPr>
            </a:br>
            <a:r>
              <a:rPr lang="en-US" sz="2400" b="0" i="0" u="none" strike="noStrike" cap="none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(1) Xe tay ga phổ thông/cũ và (2) Xe tay ga cao cấp/lướt.</a:t>
            </a:r>
            <a:endParaRPr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1809750" y="5191125"/>
            <a:ext cx="9048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Mở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rộng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Có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thể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dùng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Word2Vec (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cho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gợi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ý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)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hoặc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thêm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dữ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liệu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(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cho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phân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khúc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"/>
              </a:rPr>
              <a:t> K&gt;2).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86" name="Google Shape;28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1145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39965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523875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968</Words>
  <Application>Microsoft Macintosh PowerPoint</Application>
  <PresentationFormat>Widescreen</PresentationFormat>
  <Paragraphs>106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Lato</vt:lpstr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Thịnh - Nguyễn Quốc</cp:lastModifiedBy>
  <cp:revision>4</cp:revision>
  <dcterms:modified xsi:type="dcterms:W3CDTF">2025-11-15T13:16:26Z</dcterms:modified>
</cp:coreProperties>
</file>